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0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Adedeji" userId="80c5fb6c2ca37245" providerId="LiveId" clId="{726AE8C5-C301-43C8-95FB-DC1325380183}"/>
    <pc:docChg chg="modSld">
      <pc:chgData name="Samuel Adedeji" userId="80c5fb6c2ca37245" providerId="LiveId" clId="{726AE8C5-C301-43C8-95FB-DC1325380183}" dt="2026-08-12T16:07:47.699" v="33" actId="1076"/>
      <pc:docMkLst>
        <pc:docMk/>
      </pc:docMkLst>
      <pc:sldChg chg="modSp mod">
        <pc:chgData name="Samuel Adedeji" userId="80c5fb6c2ca37245" providerId="LiveId" clId="{726AE8C5-C301-43C8-95FB-DC1325380183}" dt="2026-08-12T16:07:47.699" v="33" actId="1076"/>
        <pc:sldMkLst>
          <pc:docMk/>
          <pc:sldMk cId="0" sldId="264"/>
        </pc:sldMkLst>
        <pc:spChg chg="mod">
          <ac:chgData name="Samuel Adedeji" userId="80c5fb6c2ca37245" providerId="LiveId" clId="{726AE8C5-C301-43C8-95FB-DC1325380183}" dt="2026-08-12T16:07:38.030" v="32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Samuel Adedeji" userId="80c5fb6c2ca37245" providerId="LiveId" clId="{726AE8C5-C301-43C8-95FB-DC1325380183}" dt="2026-08-12T16:07:47.699" v="33" actId="1076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Cancellations</c:v>
                </c:pt>
              </c:strCache>
            </c:strRef>
          </c:tx>
          <c:spPr>
            <a:solidFill>
              <a:srgbClr val="4C8BF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64-46ED-AD4C-A2D6127B03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4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2A31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4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0F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Reason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8B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D7-4086-8C14-9F2D059038D4}"/>
              </c:ext>
            </c:extLst>
          </c:dPt>
          <c:dPt>
            <c:idx val="1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D7-4086-8C14-9F2D059038D4}"/>
              </c:ext>
            </c:extLst>
          </c:dPt>
          <c:dPt>
            <c:idx val="2"/>
            <c:bubble3D val="0"/>
            <c:spPr>
              <a:solidFill>
                <a:srgbClr val="AEB4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D7-4086-8C14-9F2D059038D4}"/>
              </c:ext>
            </c:extLst>
          </c:dPt>
          <c:dPt>
            <c:idx val="3"/>
            <c:bubble3D val="0"/>
            <c:spPr>
              <a:solidFill>
                <a:srgbClr val="F2B70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AD7-4086-8C14-9F2D059038D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D7-4086-8C14-9F2D059038D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D7-4086-8C14-9F2D059038D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D7-4086-8C14-9F2D059038D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AD7-4086-8C14-9F2D059038D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Technical Bugs</c:v>
                </c:pt>
                <c:pt idx="1">
                  <c:v>Too Expensive</c:v>
                </c:pt>
                <c:pt idx="2">
                  <c:v>Poor Support</c:v>
                </c:pt>
                <c:pt idx="3">
                  <c:v>None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0.13</c:v>
                </c:pt>
                <c:pt idx="1">
                  <c:v>0.13</c:v>
                </c:pt>
                <c:pt idx="2">
                  <c:v>0.13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D7-4086-8C14-9F2D059038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AEB4C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0F1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Support Ticket</c:v>
                </c:pt>
              </c:strCache>
            </c:strRef>
          </c:tx>
          <c:spPr>
            <a:solidFill>
              <a:srgbClr val="4C8BF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Active Users</c:v>
                </c:pt>
                <c:pt idx="1">
                  <c:v>Cancelled Users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1.78</c:v>
                </c:pt>
                <c:pt idx="1">
                  <c:v>7.67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62-40CA-8429-F8616B6DD3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Usage Hours</c:v>
                </c:pt>
              </c:strCache>
            </c:strRef>
          </c:tx>
          <c:spPr>
            <a:solidFill>
              <a:srgbClr val="FF8A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Active Users</c:v>
                </c:pt>
                <c:pt idx="1">
                  <c:v>Cancelled Users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101.67</c:v>
                </c:pt>
                <c:pt idx="1">
                  <c:v>35.83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62-40CA-8429-F8616B6DD3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4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1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4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AEB4C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0F1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Usage Hours</c:v>
                </c:pt>
              </c:strCache>
            </c:strRef>
          </c:tx>
          <c:spPr>
            <a:ln w="38100" cap="flat">
              <a:solidFill>
                <a:srgbClr val="FF8A3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8A3D"/>
              </a:solidFill>
              <a:ln w="9525" cap="flat">
                <a:solidFill>
                  <a:srgbClr val="FF8A3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Standard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69</c:v>
                </c:pt>
                <c:pt idx="2">
                  <c:v>133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2C-4BDB-8EA2-1BB184E06A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4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1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4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0F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614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023360"/>
            <a:ext cx="3291840" cy="3291840"/>
          </a:xfrm>
          <a:prstGeom prst="ellipse">
            <a:avLst/>
          </a:prstGeom>
          <a:solidFill>
            <a:srgbClr val="FF8A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Findings, Insights &amp; Recommendations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886200"/>
            <a:ext cx="2194560" cy="0"/>
          </a:xfrm>
          <a:prstGeom prst="line">
            <a:avLst/>
          </a:prstGeom>
          <a:noFill/>
          <a:ln w="3175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Afolabi S. Adedeji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6144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businesses lose revenue silently when customers cancel without a clear, data-backed reason on file. This project analyzes a customer subscription dataset to identify why customers churn, quantify the financial impact, and translate the findings into recommendations the business can act 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4C8B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3616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churn rate, revenue at risk, and support-load differences between active and cancelled customers.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30632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3337560"/>
            <a:ext cx="502920" cy="50292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4C8B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977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43616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plans, behaviors, and stated reasons most associated with cancellation.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30632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3337560"/>
            <a:ext cx="502920" cy="50292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4C8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977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43616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findings into specific, prioritized actions to reduce future churn and recover revenue.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Prepared by Afolabi S. Adedeji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five-stage Excel analytics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0100" y="2011680"/>
            <a:ext cx="0" cy="320040"/>
          </a:xfrm>
          <a:prstGeom prst="line">
            <a:avLst/>
          </a:prstGeom>
          <a:noFill/>
          <a:ln w="19050">
            <a:solidFill>
              <a:srgbClr val="2A314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71600" y="1481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Cleaning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801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raw customer records; standardized fields and handled missing or inconsistent values.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" y="2834640"/>
            <a:ext cx="0" cy="320040"/>
          </a:xfrm>
          <a:prstGeom prst="line">
            <a:avLst/>
          </a:prstGeom>
          <a:noFill/>
          <a:ln w="19050">
            <a:solidFill>
              <a:srgbClr val="2A314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371600" y="23042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Calculation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624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formulas for churn rate, MRR (active vs. cancelled), and average support ticket / usage-hour metrics.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" y="3657600"/>
            <a:ext cx="0" cy="320040"/>
          </a:xfrm>
          <a:prstGeom prst="line">
            <a:avLst/>
          </a:prstGeom>
          <a:noFill/>
          <a:ln w="19050">
            <a:solidFill>
              <a:srgbClr val="2A314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371600" y="3127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&amp; Dashboarding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4472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dark-themed, interactive Excel dashboard with PivotTables, PivotCharts, and slicers by plan type.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" y="4480560"/>
            <a:ext cx="0" cy="320040"/>
          </a:xfrm>
          <a:prstGeom prst="line">
            <a:avLst/>
          </a:prstGeom>
          <a:noFill/>
          <a:ln w="19050">
            <a:solidFill>
              <a:srgbClr val="2A314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371600" y="39502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Generation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2702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patterns across churn reason, plan type, and support behavior to identify root causes.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7731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Delivery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371600" y="50932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findings into a PDF report and stakeholder-ready PowerPoint presentation.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Microsoft Excel (Power Query, PivotTables, PivotCharts, slicers, formulas) · PDF &amp; PowerPoint reporting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Prepared by Afolabi S. Adedeji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customer base health this period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37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355848" y="16002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737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Cancelled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21031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737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7648" y="21031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970264" y="16002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34856" y="1737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Fee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34856" y="21031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$899.85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3502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— Active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867912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$559.91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355848" y="3364992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20440" y="3502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— Cancelled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3867912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$339.94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163056" y="3364992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27648" y="3502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Support Tickets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7648" y="3867912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of fifteen customers cancelled this period, eroding roughly 38% of potential monthly recurring revenue.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Prepared by Afolabi S. Adedeji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&amp; Why Customers Are Leaving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by plan type and stated churn reason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by Plan Type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Reason by %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400800" y="1874520"/>
          <a:ext cx="52120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58064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"None" (60%) covers cancellations logged without a specific reason — a data-quality gap worth closing at the point of cancellation.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Prepared by Afolabi S. Adedeji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&amp; Usage Patterns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and support-ticket behavior by customer 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Support Tickets vs. Avg. Usage Hours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Usage Hours by Plan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874520"/>
          <a:ext cx="5394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309360" y="516636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92240" y="5230368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customers filed 4x more support tickets than active users (7.67 vs 1.78), and engagement drops sharply on lower-usage plans.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Prepared by Afolabi S. Adedeji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9344"/>
            <a:ext cx="384048" cy="384048"/>
          </a:xfrm>
          <a:prstGeom prst="ellipse">
            <a:avLst/>
          </a:prstGeom>
          <a:solidFill>
            <a:srgbClr val="1E2761"/>
          </a:solidFill>
          <a:ln w="15875">
            <a:solidFill>
              <a:srgbClr val="4C8B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5361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stands at 40% — 6 of 15 customers cancelled, a material risk to recurring revenue.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86584"/>
            <a:ext cx="384048" cy="384048"/>
          </a:xfrm>
          <a:prstGeom prst="ellipse">
            <a:avLst/>
          </a:prstGeom>
          <a:solidFill>
            <a:srgbClr val="1E2761"/>
          </a:solidFill>
          <a:ln w="15875">
            <a:solidFill>
              <a:srgbClr val="4C8B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3134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customers accounted for $339.94 in lost MRR, roughly 38% of total potential monthly revenue.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384048" cy="384048"/>
          </a:xfrm>
          <a:prstGeom prst="ellipse">
            <a:avLst/>
          </a:prstGeom>
          <a:solidFill>
            <a:srgbClr val="1E2761"/>
          </a:solidFill>
          <a:ln w="15875">
            <a:solidFill>
              <a:srgbClr val="4C8B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090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customers filed 4x more support tickets on average than active users (7.67 vs. 1.78), pointing to unresolved service friction.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384048" cy="384048"/>
          </a:xfrm>
          <a:prstGeom prst="ellipse">
            <a:avLst/>
          </a:prstGeom>
          <a:solidFill>
            <a:srgbClr val="1E2761"/>
          </a:solidFill>
          <a:ln w="15875">
            <a:solidFill>
              <a:srgbClr val="4C8B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8679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13% of cancellations cited price. Technical Bugs and Poor Support together suggest customers feel they get lower value for money — not that pricing itself is the problem.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384048" cy="384048"/>
          </a:xfrm>
          <a:prstGeom prst="ellipse">
            <a:avLst/>
          </a:prstGeom>
          <a:solidFill>
            <a:srgbClr val="1E2761"/>
          </a:solidFill>
          <a:ln w="15875">
            <a:solidFill>
              <a:srgbClr val="4C8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6451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hours rise sharply from Basic (24 hrs) to Premium (133 hrs) plans — low engagement is an early warning sign of churn risk.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95544"/>
            <a:ext cx="384048" cy="384048"/>
          </a:xfrm>
          <a:prstGeom prst="ellipse">
            <a:avLst/>
          </a:prstGeom>
          <a:solidFill>
            <a:srgbClr val="1E2761"/>
          </a:solidFill>
          <a:ln w="15875">
            <a:solidFill>
              <a:srgbClr val="4C8B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495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4223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are spread evenly across Basic, Standard, and Premium plans, indicating a service-wide issue rather than one tied to a specific tier.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Prepared by Afolabi S. Adedeji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556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Recurring Technical Bugs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engineering effort on the technical issues most frequently cited in cancellations and support tickets.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17556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Support Response Time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current support staff or hire additional qualified staff to close the support-load gap between active and cancelled customers.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9959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Proactively Monitor Low-Usage Customers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active customers trending toward low engagement and reach out before they reach cancellation risk.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2172A"/>
          </a:solidFill>
          <a:ln w="12700">
            <a:solidFill>
              <a:srgbClr val="2A3148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39959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Back Cancelled Customers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4663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discounted pricing and service upgrades to cancelled customers, especially those citing support or technical issues.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Prepared by Afolabi S. Adedeji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0851" y="3256059"/>
            <a:ext cx="2194560" cy="0"/>
          </a:xfrm>
          <a:prstGeom prst="line">
            <a:avLst/>
          </a:prstGeom>
          <a:noFill/>
          <a:ln w="31750">
            <a:solidFill>
              <a:srgbClr val="FF8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Afolabi S. Adedeji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90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— Data Analytics Portfolio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</Words>
  <Application>Microsoft Office PowerPoint</Application>
  <PresentationFormat>Widescreen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Samuel Adedeji</cp:lastModifiedBy>
  <cp:revision>1</cp:revision>
  <dcterms:created xsi:type="dcterms:W3CDTF">2026-08-12T15:55:42Z</dcterms:created>
  <dcterms:modified xsi:type="dcterms:W3CDTF">2026-08-12T16:07:52Z</dcterms:modified>
</cp:coreProperties>
</file>